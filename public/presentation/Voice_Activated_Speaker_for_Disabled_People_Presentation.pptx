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7315200" cy="9601200"/>
  <p:embeddedFontLst>
    <p:embeddedFont>
      <p:font typeface="Tahoma" panose="020B060403050404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fCsSCKcYit4SQjIGJYoJMMuSl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C6A247-EFC6-4C09-B09E-89A250869358}">
  <a:tblStyle styleId="{86C6A247-EFC6-4C09-B09E-89A250869358}" styleName="Table_0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F3E6"/>
          </a:solidFill>
        </a:fill>
      </a:tcStyle>
    </a:wholeTbl>
    <a:band1H>
      <a:tcTxStyle/>
      <a:tcStyle>
        <a:tcBdr/>
        <a:fill>
          <a:solidFill>
            <a:srgbClr val="F6E7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6E7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 b="1"/>
              <a:t>Instructions: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/>
              <a:t>Customize the black text. Be sure to include the names of all team members.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/>
              <a:t>	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Instructions:</a:t>
            </a:r>
            <a:r>
              <a:rPr lang="en-US"/>
              <a:t>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Keep it direct to the point, take onboard any feedback you got from Part A</a:t>
            </a:r>
            <a:endParaRPr/>
          </a:p>
        </p:txBody>
      </p:sp>
      <p:sp>
        <p:nvSpPr>
          <p:cNvPr id="57" name="Google Shape;57;p2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Instructions:</a:t>
            </a:r>
            <a:r>
              <a:rPr lang="en-US"/>
              <a:t> 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use case diagram should show all the actors and the sub-systems</a:t>
            </a:r>
            <a:endParaRPr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Instructions:</a:t>
            </a:r>
            <a:r>
              <a:rPr lang="en-US"/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List the top six use cases.  In your brief description focus on what system response is to user actions</a:t>
            </a:r>
            <a:endParaRPr/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Instructions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In your description focus on what system response is to user actions</a:t>
            </a:r>
            <a:endParaRPr/>
          </a:p>
        </p:txBody>
      </p:sp>
      <p:sp>
        <p:nvSpPr>
          <p:cNvPr id="83" name="Google Shape;83;p5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0" name="Google Shape;90;p6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Instructions:</a:t>
            </a:r>
            <a:r>
              <a:rPr lang="en-US"/>
              <a:t>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Present one formal use case description, Clarify how scenario and triggering event applies to your case in addition to system flow with the user.</a:t>
            </a:r>
            <a:endParaRPr/>
          </a:p>
        </p:txBody>
      </p:sp>
      <p:sp>
        <p:nvSpPr>
          <p:cNvPr id="91" name="Google Shape;91;p6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5" name="Google Shape;105;p8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Instructions:</a:t>
            </a:r>
            <a:r>
              <a:rPr lang="en-US"/>
              <a:t>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Discuss pre-conditions and post conditions of system.</a:t>
            </a:r>
            <a:endParaRPr/>
          </a:p>
        </p:txBody>
      </p:sp>
      <p:sp>
        <p:nvSpPr>
          <p:cNvPr id="106" name="Google Shape;106;p8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3" name="Google Shape;113;p10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Instructions:</a:t>
            </a:r>
            <a:r>
              <a:rPr lang="en-US"/>
              <a:t>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Discuss why you think these classes are relevant and the methods you chose per class, also why you chose  these types of  associations  </a:t>
            </a:r>
            <a:endParaRPr/>
          </a:p>
        </p:txBody>
      </p:sp>
      <p:sp>
        <p:nvSpPr>
          <p:cNvPr id="114" name="Google Shape;114;p10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116ff5fc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g2f116ff5fcb_0_7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800" cy="43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Instructions : </a:t>
            </a:r>
            <a:r>
              <a:rPr lang="en-US" b="0"/>
              <a:t>Mention the use case name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0"/>
              <a:t>Set a Hyper link to launch your SD if two large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0"/>
              <a:t>Show Input / Output messages to and from the system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Discuss why you chose it and what value does it add to the project when developers read it</a:t>
            </a:r>
            <a:endParaRPr/>
          </a:p>
        </p:txBody>
      </p:sp>
      <p:sp>
        <p:nvSpPr>
          <p:cNvPr id="122" name="Google Shape;122;g2f116ff5fcb_0_7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9" name="Google Shape;129;p12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7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Instructions: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0"/>
              <a:t>Mention which object you chose.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 </a:t>
            </a:r>
            <a:r>
              <a:rPr lang="en-US"/>
              <a:t>Discuss why you chose this object and what value does the state machine diagram bring</a:t>
            </a:r>
            <a:endParaRPr/>
          </a:p>
        </p:txBody>
      </p:sp>
      <p:sp>
        <p:nvSpPr>
          <p:cNvPr id="130" name="Google Shape;130;p12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116ff5fc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8" name="Google Shape;138;g2f116ff5fcb_0_15:notes"/>
          <p:cNvSpPr txBox="1">
            <a:spLocks noGrp="1"/>
          </p:cNvSpPr>
          <p:nvPr>
            <p:ph type="body" idx="1"/>
          </p:nvPr>
        </p:nvSpPr>
        <p:spPr>
          <a:xfrm>
            <a:off x="730250" y="4559300"/>
            <a:ext cx="5854800" cy="43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Instructions: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0"/>
              <a:t>Mention which object you chose.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b="1"/>
              <a:t> </a:t>
            </a:r>
            <a:r>
              <a:rPr lang="en-US"/>
              <a:t>Discuss why you chose this object and what value does the state machine diagram bring</a:t>
            </a:r>
            <a:endParaRPr/>
          </a:p>
        </p:txBody>
      </p:sp>
      <p:sp>
        <p:nvSpPr>
          <p:cNvPr id="139" name="Google Shape;139;g2f116ff5fcb_0_15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14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" name="Google Shape;20;p1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1" name="Google Shape;21;p14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" name="Google Shape;22;p14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3" name="Google Shape;23;p14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4" name="Google Shape;24;p14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" name="Google Shape;25;p14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6" name="Google Shape;26;p14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" name="Google Shape;28;p14"/>
            <p:cNvSpPr/>
            <p:nvPr/>
          </p:nvSpPr>
          <p:spPr>
            <a:xfrm rot="10800000" flipH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9" name="Google Shape;29;p14"/>
          <p:cNvSpPr txBox="1">
            <a:spLocks noGrp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1071563" y="1143000"/>
            <a:ext cx="7883525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1258888" y="6243638"/>
            <a:ext cx="5294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928662" y="1214422"/>
            <a:ext cx="4064026" cy="49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5000628" y="1214422"/>
            <a:ext cx="3954460" cy="49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500063" y="2857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642938" y="64293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13"/>
          <p:cNvSpPr/>
          <p:nvPr/>
        </p:nvSpPr>
        <p:spPr>
          <a:xfrm>
            <a:off x="142875" y="5715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13"/>
          <p:cNvSpPr/>
          <p:nvPr/>
        </p:nvSpPr>
        <p:spPr>
          <a:xfrm>
            <a:off x="785813" y="214313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571500" y="928688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1071563" y="1143000"/>
            <a:ext cx="7883525" cy="498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12419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92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  <a:defRPr sz="2000" b="0" i="1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984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1115616" y="154741"/>
            <a:ext cx="7776900" cy="6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90"/>
                </a:solidFill>
                <a:latin typeface="Tahoma"/>
                <a:ea typeface="Tahoma"/>
                <a:cs typeface="Tahoma"/>
                <a:sym typeface="Tahoma"/>
              </a:rPr>
              <a:t>COMP 225-hybrid: Software Engineering Methodologies</a:t>
            </a:r>
            <a:br>
              <a:rPr lang="en-US" sz="2400" b="1" i="0" u="none" strike="noStrike" cap="none" dirty="0">
                <a:solidFill>
                  <a:srgbClr val="000090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2400" b="1" i="0" u="none" strike="noStrike" cap="none" dirty="0">
                <a:solidFill>
                  <a:srgbClr val="00009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400" b="1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Software Requirements Specification (SRS) </a:t>
            </a:r>
            <a:endParaRPr sz="24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Name of project :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VASDP: </a:t>
            </a:r>
            <a:r>
              <a:rPr lang="en-US" sz="1800" b="1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 </a:t>
            </a:r>
            <a:r>
              <a:rPr lang="en-US" sz="1800" b="1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oice </a:t>
            </a:r>
            <a:r>
              <a:rPr lang="en-US" sz="1800" b="1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ctivated </a:t>
            </a:r>
            <a:r>
              <a:rPr lang="en-US" sz="1800" b="1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peaker for </a:t>
            </a:r>
            <a:r>
              <a:rPr lang="en-US" sz="1800" b="1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isabled </a:t>
            </a:r>
            <a:r>
              <a:rPr lang="en-US" sz="1800" b="1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eople </a:t>
            </a:r>
            <a:b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24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Presented by:</a:t>
            </a:r>
            <a:b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Name	                             	Student #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dirty="0">
              <a:solidFill>
                <a:srgbClr val="19191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Davi Volpi Takata Zevallos     	301372653</a:t>
            </a:r>
            <a:br>
              <a:rPr lang="en-US" sz="1800" b="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Jaturaput Jongsubcharoen    	301391425</a:t>
            </a:r>
            <a:br>
              <a:rPr lang="en-US" sz="1800" dirty="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Kripa Acharya 		   </a:t>
            </a:r>
            <a:r>
              <a:rPr lang="en-US" sz="1800" dirty="0">
                <a:solidFill>
                  <a:srgbClr val="191919"/>
                </a:solidFill>
                <a:highlight>
                  <a:srgbClr val="FFFFFF"/>
                </a:highlight>
              </a:rPr>
              <a:t>	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301432879</a:t>
            </a:r>
            <a:br>
              <a:rPr lang="en-US" sz="1800" dirty="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800" b="0" i="0" u="none" strike="noStrike" dirty="0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Ratthapat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dirty="0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Apichaikunlanit</a:t>
            </a:r>
            <a:r>
              <a:rPr lang="en-US" sz="1800" b="0" i="0" u="none" strike="noStrike" dirty="0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	301275267</a:t>
            </a:r>
            <a:br>
              <a:rPr lang="en-US" sz="1800" dirty="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Date : 08/06/2024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Section #: 005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Semester : 2</a:t>
            </a:r>
            <a:b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1185545" y="928083"/>
            <a:ext cx="8388424" cy="594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>
                <a:solidFill>
                  <a:srgbClr val="000090"/>
                </a:solidFill>
              </a:rPr>
              <a:t>Purpose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b="1" u="sng">
              <a:solidFill>
                <a:srgbClr val="000090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This new software product will address the problem of Disabled with the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voice activated speaker and will be integrated into the infrastructure of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Canada, this is version 1.0.0.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>
              <a:solidFill>
                <a:srgbClr val="00009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>
                <a:solidFill>
                  <a:srgbClr val="000090"/>
                </a:solidFill>
              </a:rPr>
              <a:t>Project scope</a:t>
            </a:r>
            <a:endParaRPr/>
          </a:p>
          <a:p>
            <a:pPr marL="342900" lvl="0" indent="-251459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u="sng">
              <a:solidFill>
                <a:srgbClr val="000090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 Voice Activated Software Speaker for Disabled People (VASDP) aims to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enhance accessibility for individuals with disabilities (excluding the deaf) by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providing a voice-controlled interface for various tasks. This software will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integrate seamlessly into Canada’s existing technological infrastructure,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offering a user-friendly solution to improve independence and quality of life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 sz="1800" b="0" i="0" u="none" strike="noStrike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 the disabled community.</a:t>
            </a:r>
            <a:endParaRPr sz="2400">
              <a:solidFill>
                <a:srgbClr val="000090"/>
              </a:solidFill>
            </a:endParaRPr>
          </a:p>
          <a:p>
            <a:pPr marL="342900" lvl="0" indent="-251459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u="sng">
              <a:solidFill>
                <a:srgbClr val="00009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>
              <a:solidFill>
                <a:srgbClr val="000090"/>
              </a:solidFill>
            </a:endParaRPr>
          </a:p>
        </p:txBody>
      </p:sp>
      <p:sp>
        <p:nvSpPr>
          <p:cNvPr id="61" name="Google Shape;61;p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Packaged Use Case Diagram </a:t>
            </a:r>
            <a:endParaRPr/>
          </a:p>
        </p:txBody>
      </p:sp>
      <p:sp>
        <p:nvSpPr>
          <p:cNvPr id="68" name="Google Shape;68;p3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7320" y="1669614"/>
            <a:ext cx="4045159" cy="389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78099" y="1295624"/>
            <a:ext cx="4496032" cy="4026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5113" y="1004900"/>
            <a:ext cx="3053785" cy="569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>
            <a:spLocks noGrp="1"/>
          </p:cNvSpPr>
          <p:nvPr>
            <p:ph type="title"/>
          </p:nvPr>
        </p:nvSpPr>
        <p:spPr>
          <a:xfrm>
            <a:off x="1177487" y="841849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Cases Brief Descriptions </a:t>
            </a:r>
            <a:r>
              <a:rPr lang="en-US" sz="2400"/>
              <a:t>only 6</a:t>
            </a:r>
            <a:endParaRPr/>
          </a:p>
        </p:txBody>
      </p:sp>
      <p:sp>
        <p:nvSpPr>
          <p:cNvPr id="78" name="Google Shape;78;p4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79" name="Google Shape;79;p4"/>
          <p:cNvGraphicFramePr/>
          <p:nvPr/>
        </p:nvGraphicFramePr>
        <p:xfrm>
          <a:off x="323528" y="14521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{86C6A247-EFC6-4C09-B09E-89A250869358}</a:tableStyleId>
              </a:tblPr>
              <a:tblGrid>
                <a:gridCol w="156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Goal Use Case name</a:t>
                      </a:r>
                      <a:endParaRPr sz="1800" u="none" strike="noStrike" cap="none">
                        <a:solidFill>
                          <a:srgbClr val="00009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Actors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000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 Brief  Description </a:t>
                      </a:r>
                      <a:endParaRPr sz="1800" u="none" strike="noStrike" cap="none">
                        <a:solidFill>
                          <a:srgbClr val="00009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1)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Create-User Profile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User, Caregiver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actor creates a new user profile with personalized settings, including visual adjustments and voice command preferences.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2) 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Manage-User Settings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User, Caregiver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actor updates user settings such as voice command preferences, color themes, and accessibility options.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3) 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Recognize-Voice Command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accurately recognizes and processes voice commands issued by the user, translating them into actions or responses.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4) 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Execute-Task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User, Caregiver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performs tasks such as setting reminders, controlling home devices, and accessing information based on recognized voice commands.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5) 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Configure-Integration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Administrator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actor configures the system to integrate with various external devices and services such as smart home systems and other assistive technologies.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6) </a:t>
                      </a: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Manage-Security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Security Officer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actor ensures that all user data is encrypted and secure, configuring necessary security measures such as authentication and authorization protocols.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Cases Brief Description</a:t>
            </a: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87" name="Google Shape;87;p5"/>
          <p:cNvGraphicFramePr/>
          <p:nvPr/>
        </p:nvGraphicFramePr>
        <p:xfrm>
          <a:off x="683568" y="148478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{86C6A247-EFC6-4C09-B09E-89A250869358}</a:tableStyleId>
              </a:tblPr>
              <a:tblGrid>
                <a:gridCol w="318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Goal Use Cases</a:t>
                      </a:r>
                      <a:endParaRPr sz="1800">
                        <a:solidFill>
                          <a:srgbClr val="00009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 Brief  Description </a:t>
                      </a:r>
                      <a:endParaRPr sz="1800">
                        <a:solidFill>
                          <a:srgbClr val="00009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Ensure-Compatibility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actor verifies and manages the system's compatibility with different hardware platforms, operating systems, and third-party services.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Monitor-System Health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actor monitors system performance and uptime, ensuring the system is available and scales according to user demand.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Update-System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actor updates the system with new features, security patches, and performance improvements to ensure continuous improvement in accessibility and functionality.</a:t>
                      </a:r>
                      <a:endParaRPr sz="14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Full Description </a:t>
            </a:r>
            <a:r>
              <a:rPr lang="en-US" sz="2000"/>
              <a:t>(present one) </a:t>
            </a:r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519621" y="1288435"/>
            <a:ext cx="9055670" cy="569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Name: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Recognize-Voice Command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Actor: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 (Disable people)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Stakeholders and Interests: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(Disable people) </a:t>
            </a: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Wants to interact with the system using voice commands for ease of use.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Caregiver: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Wants to ensure the system accurately recognizes commands to assist the user.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Administrator: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Needs to ensure the system's voice recognition functions reliably and efficiently.</a:t>
            </a:r>
            <a:endParaRPr/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br>
              <a:rPr lang="en-US" sz="1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Preconditions: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user is logged into the system.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voice recognition system is initialized and running.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microphone is functioning and properly configured.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camera is properly set up and functioning if required.</a:t>
            </a:r>
            <a:endParaRPr/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Postconditions: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correctly interprets the user's voice command.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appropriate response or action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Full Description </a:t>
            </a:r>
            <a:r>
              <a:rPr lang="en-US" sz="2000"/>
              <a:t>(present one) 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323528" y="1412776"/>
            <a:ext cx="8496900" cy="5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Success Scenario: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user issues a voice command.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captures the voice input via the microphone.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processes the captured voice input using the voice recognition engine.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interprets the voice command accurately.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just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provides feedback to the user, either confirming the command or executing the requested action</a:t>
            </a:r>
            <a:endParaRPr/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Extensions (Alternative Flows):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2a.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Microphone is not functioning: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2a1. The system notifies the user of the microphone issue and prompts to check the device.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3a.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Camera is required for additional input but not functioning: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3a1. The system notifies the user of the camera issue and prompts to check the device.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3a2. The system offers to proceed with audio-only mode if camera input is optional.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4a.</a:t>
            </a: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Voice command is not recognized: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4a1. The system requests the user to repeat the command.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4a2. The system processes the repeated command.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4a3. If the command is still not recognized, the system offers alternative input methods (e.g., text input).</a:t>
            </a:r>
            <a:endParaRPr/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Full Description </a:t>
            </a:r>
            <a:r>
              <a:rPr lang="en-US" sz="2000"/>
              <a:t>(Continued) </a:t>
            </a:r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348518" y="1340768"/>
            <a:ext cx="8623623" cy="504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 Requirements:</a:t>
            </a:r>
            <a:endParaRPr sz="1400" b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must process voice commands with high accuracy, even with various accents and speech patterns.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should provide real-time feedback to ensure seamless interaction.</a:t>
            </a:r>
            <a:endParaRPr/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and Data Variations List:</a:t>
            </a:r>
            <a:endParaRPr sz="1400" b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 recognition engine can be cloud-based (e.g., Google Cloud Speech-to-Text) or locally hosted.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Microphone can be built-in or external.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 can be built-in or external and used for optional visual input.</a:t>
            </a:r>
            <a:endParaRPr/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 of Occurrence:</a:t>
            </a:r>
            <a:endParaRPr sz="1400" b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Frequently, as it is the primary method for user interaction with the system.</a:t>
            </a:r>
            <a:endParaRPr/>
          </a:p>
          <a:p>
            <a:pPr marL="0" marR="0" lvl="0" indent="0" algn="just" rtl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Issues:</a:t>
            </a:r>
            <a:endParaRPr sz="1400" b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-88900" algn="just" rtl="0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Ensuring privacy and data security for voice and visual data.</a:t>
            </a:r>
            <a:endParaRPr/>
          </a:p>
          <a:p>
            <a:pPr marL="0" marR="0" lvl="0" indent="-88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Handling variations in speech, environmental noise, and lighting conditions for camera input.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 Class Diagram </a:t>
            </a:r>
            <a:r>
              <a:rPr lang="en-US" sz="2400"/>
              <a:t>with methods</a:t>
            </a:r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672" y="976313"/>
            <a:ext cx="5734050" cy="57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116ff5fcb_0_7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9932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 </a:t>
            </a:r>
            <a:r>
              <a:rPr lang="en-US" sz="2000"/>
              <a:t>(present one)</a:t>
            </a:r>
            <a:endParaRPr/>
          </a:p>
        </p:txBody>
      </p:sp>
      <p:sp>
        <p:nvSpPr>
          <p:cNvPr id="125" name="Google Shape;125;g2f116ff5fcb_0_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26" name="Google Shape;126;g2f116ff5fcb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125" y="1059463"/>
            <a:ext cx="3975749" cy="5695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0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machine diagram</a:t>
            </a:r>
            <a:endParaRPr/>
          </a:p>
        </p:txBody>
      </p:sp>
      <p:sp>
        <p:nvSpPr>
          <p:cNvPr id="133" name="Google Shape;133;p1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5" name="Google Shape;13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943" y="1220700"/>
            <a:ext cx="7191109" cy="5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116ff5fcb_0_15"/>
          <p:cNvSpPr txBox="1">
            <a:spLocks noGrp="1"/>
          </p:cNvSpPr>
          <p:nvPr>
            <p:ph type="title"/>
          </p:nvPr>
        </p:nvSpPr>
        <p:spPr>
          <a:xfrm>
            <a:off x="1150938" y="214313"/>
            <a:ext cx="77931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machine diagram</a:t>
            </a:r>
            <a:endParaRPr/>
          </a:p>
        </p:txBody>
      </p:sp>
      <p:sp>
        <p:nvSpPr>
          <p:cNvPr id="142" name="Google Shape;142;g2f116ff5fcb_0_1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3" name="Google Shape;143;g2f116ff5fcb_0_15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4" name="Google Shape;144;g2f116ff5fc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663" y="1432975"/>
            <a:ext cx="6504675" cy="43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On-screen Show (4:3)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Noto Sans Symbols</vt:lpstr>
      <vt:lpstr>Arial</vt:lpstr>
      <vt:lpstr>Tahoma</vt:lpstr>
      <vt:lpstr>Calibri</vt:lpstr>
      <vt:lpstr>Blends</vt:lpstr>
      <vt:lpstr>PowerPoint Presentation</vt:lpstr>
      <vt:lpstr>Introduction</vt:lpstr>
      <vt:lpstr>Packaged Use Case Diagram </vt:lpstr>
      <vt:lpstr>Use Cases Brief Descriptions only 6</vt:lpstr>
      <vt:lpstr>Use Cases Brief Description</vt:lpstr>
      <vt:lpstr>Use Case Full Description (present one) </vt:lpstr>
      <vt:lpstr>Use Case Full Description (present one) </vt:lpstr>
      <vt:lpstr>Use Case Full Description (Continued) </vt:lpstr>
      <vt:lpstr>Domain Class Diagram with methods</vt:lpstr>
      <vt:lpstr>Sequence diagram (present one)</vt:lpstr>
      <vt:lpstr>State machine diagram</vt:lpstr>
      <vt:lpstr>State machine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Mayy Habayeb</dc:creator>
  <cp:lastModifiedBy>Jaturaput Jongsubcharoen</cp:lastModifiedBy>
  <cp:revision>1</cp:revision>
  <dcterms:created xsi:type="dcterms:W3CDTF">2009-01-07T15:13:31Z</dcterms:created>
  <dcterms:modified xsi:type="dcterms:W3CDTF">2026-09-05T21:46:04Z</dcterms:modified>
</cp:coreProperties>
</file>